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 type="screen4x3"/>
  <p:notesSz cx="6858000" cy="9144000"/>
  <p:embeddedFontLst>
    <p:embeddedFont>
      <p:font typeface="Work Sans" pitchFamily="2" charset="0"/>
      <p:regular r:id="rId11"/>
      <p:bold r:id="rId8"/>
      <p:italic r:id="rId10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1733550"/>
            <a:ext cx="571500" cy="466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2065" y="2453729"/>
            <a:ext cx="9452669" cy="1295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4D4D4C"/>
                </a:solidFill>
                <a:latin typeface="Work Sans"/>
              </a:rPr>
              <a:t>Herramienta de Caracterización</a:t>
            </a:r>
            <a:r>
              <a:rPr sz="4800" b="1" i="0">
                <a:solidFill>
                  <a:srgbClr val="39A900"/>
                </a:solidFill>
                <a:latin typeface="Work Sans"/>
              </a:rPr>
              <a:t> SENA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3800" y="3949154"/>
            <a:ext cx="9156650" cy="7085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9A900"/>
                </a:solidFill>
                <a:latin typeface="Work Sans"/>
              </a:rPr>
              <a:t>Aplicación Web para Instrumentos Pedagógicos Kolb, CHAEA</a:t>
            </a:r>
            <a:r>
              <a:rPr sz="2400" b="1" i="0">
                <a:solidFill>
                  <a:srgbClr val="39A900"/>
                </a:solidFill>
                <a:latin typeface="Work Sans"/>
              </a:rPr>
              <a:t> y VAK - Versión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0" y="5667375"/>
            <a:ext cx="3810000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"/>
              </a:rPr>
              <a:t>Diego Alonso Ojeda Medina - dojedam@sena.edu.co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2819" y="5962650"/>
            <a:ext cx="2786211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"/>
              </a:rPr>
              <a:t>SENA Regional Boyacá - Centro Minero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4838" y="6257925"/>
            <a:ext cx="962322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"/>
              </a:rPr>
              <a:t>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2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9366" y="219075"/>
            <a:ext cx="8513117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4D4D4C"/>
                </a:solidFill>
                <a:latin typeface="WORK SANS BOLD ROMAN"/>
              </a:rPr>
              <a:t>¿Qué es la Herramienta de Caracterización?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3679" y="2196703"/>
            <a:ext cx="6374903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39A900"/>
                </a:solidFill>
                <a:latin typeface="WORK SANS BOLD ROMAN"/>
              </a:rPr>
              <a:t>Aplicación Web Integral para Instructores SENA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743200"/>
            <a:ext cx="2476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529" y="2729954"/>
            <a:ext cx="785589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Facilita la </a:t>
            </a:r>
            <a:r>
              <a:rPr sz="1500" b="0" i="0">
                <a:solidFill>
                  <a:srgbClr val="39A900"/>
                </a:solidFill>
                <a:latin typeface="Work Sans Light Roman"/>
              </a:rPr>
              <a:t> caracterización integral de aprendices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mediante instrumentos pedagógicos automatizados.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152775"/>
            <a:ext cx="247650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7529" y="3145184"/>
            <a:ext cx="7072163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Diseñada bajo lineamientos de la </a:t>
            </a:r>
            <a:r>
              <a:rPr sz="1500" b="0" i="0">
                <a:solidFill>
                  <a:srgbClr val="39A900"/>
                </a:solidFill>
                <a:latin typeface="Work Sans Light Roman"/>
              </a:rPr>
              <a:t> Reforma Laboral 2026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y nuevo Reglamento del Aprendiz.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3562350"/>
            <a:ext cx="2000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27969" y="3560415"/>
            <a:ext cx="73620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Apoya implementación del </a:t>
            </a:r>
            <a:r>
              <a:rPr sz="1500" b="0" i="0">
                <a:solidFill>
                  <a:srgbClr val="39A900"/>
                </a:solidFill>
                <a:latin typeface="Work Sans Light Roman"/>
              </a:rPr>
              <a:t> Diseño Universal para el Aprendizaje (DUA)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en programas técnicos.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3981450"/>
            <a:ext cx="1809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03264" y="3975645"/>
            <a:ext cx="7907833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Contribuye a la creación de </a:t>
            </a:r>
            <a:r>
              <a:rPr sz="1500" b="0" i="0">
                <a:solidFill>
                  <a:srgbClr val="39A900"/>
                </a:solidFill>
                <a:latin typeface="Work Sans Light Roman"/>
              </a:rPr>
              <a:t> planes PIAR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personalizados para estudiantes con necesidades específicas.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00" y="4867275"/>
            <a:ext cx="7924800" cy="7143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93590" y="4990951"/>
            <a:ext cx="1560909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9A900"/>
                </a:solidFill>
                <a:latin typeface="Work Sans Light Roman"/>
              </a:rPr>
              <a:t>Impacto Institucional: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4499" y="4990951"/>
            <a:ext cx="5396358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007832"/>
                </a:solidFill>
                <a:latin typeface="Work Sans Light Roman"/>
              </a:rPr>
              <a:t> Moderniza procesos de caracterización del SENA, alineándose con políticas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3590" y="5222081"/>
            <a:ext cx="6850856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007832"/>
                </a:solidFill>
                <a:latin typeface="Work Sans Light Roman"/>
              </a:rPr>
              <a:t>educativas 2026 que reconocen a aprendices como trabajadores con plenos derechos laborales.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2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93453" y="219075"/>
            <a:ext cx="7404943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4D4D4C"/>
                </a:solidFill>
                <a:latin typeface="WORK SANS BOLD ROMAN"/>
              </a:rPr>
              <a:t>Instrumentos Pedagógicos Integrados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095500"/>
            <a:ext cx="3705225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1675" y="2324100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48594" y="2831455"/>
            <a:ext cx="620762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39A900"/>
                </a:solidFill>
                <a:latin typeface="WORK SANS BOLD ROMAN"/>
              </a:rPr>
              <a:t>Kolb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71850"/>
            <a:ext cx="23812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2623" y="3355181"/>
            <a:ext cx="2672407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Ejes de </a:t>
            </a:r>
            <a:r>
              <a:rPr sz="1400" b="0" i="0">
                <a:solidFill>
                  <a:srgbClr val="39A900"/>
                </a:solidFill>
                <a:latin typeface="Work Sans Light Roman"/>
              </a:rPr>
              <a:t> Percepción</a:t>
            </a:r>
            <a:r>
              <a:rPr sz="1400" b="0" i="0">
                <a:solidFill>
                  <a:srgbClr val="000000"/>
                </a:solidFill>
                <a:latin typeface="Work Sans Light Roman"/>
              </a:rPr>
              <a:t> y </a:t>
            </a:r>
            <a:r>
              <a:rPr sz="1400" b="0" i="0">
                <a:solidFill>
                  <a:srgbClr val="39A900"/>
                </a:solidFill>
                <a:latin typeface="Work Sans Light Roman"/>
              </a:rPr>
              <a:t> Procesamiento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86200"/>
            <a:ext cx="2476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623" y="3753891"/>
            <a:ext cx="2303165" cy="450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Estilos: Divergente, Asimilador,</a:t>
            </a:r>
            <a:r>
              <a:rPr sz="1400" b="0" i="0">
                <a:solidFill>
                  <a:srgbClr val="000000"/>
                </a:solidFill>
                <a:latin typeface="Work Sans Light Roman"/>
              </a:rPr>
              <a:t> Convergente, Acomodador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400550"/>
            <a:ext cx="2381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623" y="4383732"/>
            <a:ext cx="2484983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Matriz inteligente evita duplicados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2095500"/>
            <a:ext cx="3705225" cy="3429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0" y="2324100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99211" y="2831455"/>
            <a:ext cx="993278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39A900"/>
                </a:solidFill>
                <a:latin typeface="WORK SANS BOLD ROMAN"/>
              </a:rPr>
              <a:t>CHAEA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3371850"/>
            <a:ext cx="2381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40485" y="3355181"/>
            <a:ext cx="2895203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Preferencias de </a:t>
            </a:r>
            <a:r>
              <a:rPr sz="1400" b="0" i="0">
                <a:solidFill>
                  <a:srgbClr val="39A900"/>
                </a:solidFill>
                <a:latin typeface="Work Sans Light Roman"/>
              </a:rPr>
              <a:t> aprendizaje</a:t>
            </a:r>
            <a:r>
              <a:rPr sz="1400" b="0" i="0">
                <a:solidFill>
                  <a:srgbClr val="000000"/>
                </a:solidFill>
                <a:latin typeface="Work Sans Light Roman"/>
              </a:rPr>
              <a:t> específicas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3425" y="3771900"/>
            <a:ext cx="23812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40485" y="3753891"/>
            <a:ext cx="2676971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Activo, Reflexivo, Teórico, Pragmático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3425" y="4171950"/>
            <a:ext cx="247650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50308" y="4152602"/>
            <a:ext cx="1828502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Perfil pedagógico integral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975" y="2095500"/>
            <a:ext cx="3705225" cy="3429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0" y="2324100"/>
            <a:ext cx="447675" cy="381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48242" y="2831455"/>
            <a:ext cx="569118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39A900"/>
                </a:solidFill>
                <a:latin typeface="WORK SANS BOLD ROMAN"/>
              </a:rPr>
              <a:t>VAK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4900" y="3371850"/>
            <a:ext cx="2476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23895" y="3355181"/>
            <a:ext cx="2026344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Canal </a:t>
            </a:r>
            <a:r>
              <a:rPr sz="1400" b="0" i="0">
                <a:solidFill>
                  <a:srgbClr val="39A900"/>
                </a:solidFill>
                <a:latin typeface="Work Sans Light Roman"/>
              </a:rPr>
              <a:t> Visual</a:t>
            </a:r>
            <a:r>
              <a:rPr sz="1400" b="0" i="0">
                <a:solidFill>
                  <a:srgbClr val="000000"/>
                </a:solidFill>
                <a:latin typeface="Work Sans Light Roman"/>
              </a:rPr>
              <a:t> predominante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34425" y="3771900"/>
            <a:ext cx="247650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33718" y="3753891"/>
            <a:ext cx="2197645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Canal </a:t>
            </a:r>
            <a:r>
              <a:rPr sz="1400" b="0" i="0">
                <a:solidFill>
                  <a:srgbClr val="39A900"/>
                </a:solidFill>
                <a:latin typeface="Work Sans Light Roman"/>
              </a:rPr>
              <a:t> Auditivo</a:t>
            </a:r>
            <a:r>
              <a:rPr sz="1400" b="0" i="0">
                <a:solidFill>
                  <a:srgbClr val="000000"/>
                </a:solidFill>
                <a:latin typeface="Work Sans Light Roman"/>
              </a:rPr>
              <a:t> predominante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34425" y="4171950"/>
            <a:ext cx="238125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23895" y="4152602"/>
            <a:ext cx="2402135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Work Sans Light Roman"/>
              </a:rPr>
              <a:t>Canal </a:t>
            </a:r>
            <a:r>
              <a:rPr sz="1400" b="0" i="0">
                <a:solidFill>
                  <a:srgbClr val="39A900"/>
                </a:solidFill>
                <a:latin typeface="Work Sans Light Roman"/>
              </a:rPr>
              <a:t> Kinestésico</a:t>
            </a:r>
            <a:r>
              <a:rPr sz="1400" b="0" i="0">
                <a:solidFill>
                  <a:srgbClr val="000000"/>
                </a:solidFill>
                <a:latin typeface="Work Sans Light Roman"/>
              </a:rPr>
              <a:t> predominante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4559" y="295275"/>
            <a:ext cx="8282731" cy="504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D4D4C"/>
                </a:solidFill>
                <a:latin typeface="WORK SANS BOLD ROMAN"/>
              </a:rPr>
              <a:t>Nuevas Funcionalidades v2.1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509" y="1950392"/>
            <a:ext cx="3166913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9A900"/>
                </a:solidFill>
                <a:latin typeface="WORK SANS BOLD ROMAN"/>
              </a:rPr>
              <a:t>Arquitectura Moderna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2628900"/>
            <a:ext cx="2286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309" y="2620863"/>
            <a:ext cx="4592637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Modularidad ES6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con código refactorizado en módulos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para mayor mantenibilidad y orden.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3467100"/>
            <a:ext cx="2286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309" y="3456384"/>
            <a:ext cx="4438897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Separación clara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entre Vistas, Estado y Servicios para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mejor organización.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305300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8734" y="4291905"/>
            <a:ext cx="4836417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Anualidad Dinámica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que detecta automáticamente el año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en curso (ej. "SENA 2026").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5143500"/>
            <a:ext cx="2000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8734" y="5127426"/>
            <a:ext cx="4666456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Guardado Automático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que envía resultados a la nube al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finalizar el último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1950392"/>
            <a:ext cx="3371105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9A900"/>
                </a:solidFill>
                <a:latin typeface="WORK SANS BOLD ROMAN"/>
              </a:rPr>
              <a:t>Experiencia de Usuario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638425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2620863"/>
            <a:ext cx="4865885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9A900"/>
                </a:solidFill>
                <a:latin typeface="Work Sans Light Roman"/>
              </a:rPr>
              <a:t>Matriz de Selección Kolb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con interfaz inteligente que evita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respuestas duplicadas.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3476625"/>
            <a:ext cx="1333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15100" y="3456384"/>
            <a:ext cx="4835971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9A900"/>
                </a:solidFill>
                <a:latin typeface="Work Sans Light Roman"/>
              </a:rPr>
              <a:t>Navegación Fluida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con mejoras en scroll para evitar saltos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innecesarios.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4305300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9400" y="4291905"/>
            <a:ext cx="4372222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9A900"/>
                </a:solidFill>
                <a:latin typeface="Work Sans Light Roman"/>
              </a:rPr>
              <a:t>Recuperación de Estado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mediante localStorage para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mantener progreso del usuario.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5143500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127426"/>
            <a:ext cx="4302868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39A900"/>
                </a:solidFill>
                <a:latin typeface="Work Sans Light Roman"/>
              </a:rPr>
              <a:t>Hidratación de Resultados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que recalcula perfiles en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tiempo real al buscar usuarios.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2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5063" y="219075"/>
            <a:ext cx="4981872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4D4D4C"/>
                </a:solidFill>
                <a:latin typeface="WORK SANS BOLD ROMAN"/>
              </a:rPr>
              <a:t>Arquitectura y Tecnología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400300"/>
            <a:ext cx="5219700" cy="2905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33650"/>
            <a:ext cx="4876800" cy="2562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678632"/>
            <a:ext cx="3756868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39A900"/>
                </a:solidFill>
                <a:latin typeface="WORK SANS BOLD ROMAN"/>
              </a:rPr>
              <a:t>Estructura Técnica Moderna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209800"/>
            <a:ext cx="2000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890" y="2211883"/>
            <a:ext cx="541198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7832"/>
                </a:solidFill>
                <a:latin typeface="Work Sans Light Roman"/>
              </a:rPr>
              <a:t>Modularidad ES6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con separación clara entre vistas, estado y servicios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para mejor mantenibilidad.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2895600"/>
            <a:ext cx="2000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890" y="2889944"/>
            <a:ext cx="5209877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Requiere </a:t>
            </a:r>
            <a:r>
              <a:rPr sz="1500" b="0" i="0">
                <a:solidFill>
                  <a:srgbClr val="007832"/>
                </a:solidFill>
                <a:latin typeface="Work Sans Light Roman"/>
              </a:rPr>
              <a:t> servidor local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debido al uso de ES Modules (Live Server o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Python HTTP).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3571875"/>
            <a:ext cx="2476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7450" y="3568005"/>
            <a:ext cx="4429571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Backend con </a:t>
            </a:r>
            <a:r>
              <a:rPr sz="1500" b="0" i="0">
                <a:solidFill>
                  <a:srgbClr val="007832"/>
                </a:solidFill>
                <a:latin typeface="Work Sans Light Roman"/>
              </a:rPr>
              <a:t> Google Apps Script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para almacenamiento y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procesamiento de datos.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4248150"/>
            <a:ext cx="15240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68479" y="4246066"/>
            <a:ext cx="488498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Interfaz </a:t>
            </a:r>
            <a:r>
              <a:rPr sz="1500" b="0" i="0">
                <a:solidFill>
                  <a:srgbClr val="007832"/>
                </a:solidFill>
                <a:latin typeface="Work Sans Light Roman"/>
              </a:rPr>
              <a:t> SPA responsive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optimizada para dispositivos móviles y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escritorio.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200" y="5381625"/>
            <a:ext cx="5943600" cy="7143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51190" y="5509021"/>
            <a:ext cx="1274117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9A900"/>
                </a:solidFill>
                <a:latin typeface="Work Sans Light Roman"/>
              </a:rPr>
              <a:t>Requisito Técnico: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5307" y="5509021"/>
            <a:ext cx="3769072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D4D4C"/>
                </a:solidFill>
                <a:latin typeface="Work Sans Light Roman"/>
              </a:rPr>
              <a:t> No puede abrirse directamente desde archivo local 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1190" y="5740151"/>
            <a:ext cx="5039766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D4D4C"/>
                </a:solidFill>
                <a:latin typeface="Work Sans Light Roman"/>
              </a:rPr>
              <a:t>necesita servidor web para funcionar correctamente con módulos ES6.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2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1591" y="219075"/>
            <a:ext cx="6728668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4D4D4C"/>
                </a:solidFill>
                <a:latin typeface="WORK SANS BOLD ROMAN"/>
              </a:rPr>
              <a:t>Beneficios para Instructores 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1758999"/>
            <a:ext cx="4689276" cy="314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39A900"/>
                </a:solidFill>
                <a:latin typeface="WORK SANS BOLD ROMAN"/>
              </a:rPr>
              <a:t>Ventajas Pedagógicas y Operativas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2324100"/>
            <a:ext cx="21907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5870" y="2307431"/>
            <a:ext cx="7769721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9A900"/>
                </a:solidFill>
                <a:latin typeface="Work Sans Light Roman"/>
              </a:rPr>
              <a:t>Ahorro de tiempo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en procesos de caracterización con aplicación automatizada de tres instrumentos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simultáneamente.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3028950"/>
            <a:ext cx="21907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5870" y="3015853"/>
            <a:ext cx="857473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9A900"/>
                </a:solidFill>
                <a:latin typeface="Work Sans Light Roman"/>
              </a:rPr>
              <a:t>Datos precisos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para diseñar estrategias pedagógicas personalizadas según estilos de aprendizaje identificados.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3495675"/>
            <a:ext cx="2190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5870" y="3476625"/>
            <a:ext cx="802570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Facilita implementación del </a:t>
            </a:r>
            <a:r>
              <a:rPr sz="1500" b="0" i="0">
                <a:solidFill>
                  <a:srgbClr val="007832"/>
                </a:solidFill>
                <a:latin typeface="Work Sans Light Roman"/>
              </a:rPr>
              <a:t> DUA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con información detallada sobre preferencias sensoriales y cognitivas.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3952875"/>
            <a:ext cx="16192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12590" y="3937396"/>
            <a:ext cx="686618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Work Sans Light Roman"/>
              </a:rPr>
              <a:t>Genera insumos clave para </a:t>
            </a:r>
            <a:r>
              <a:rPr sz="1500" b="0" i="0">
                <a:solidFill>
                  <a:srgbClr val="39A900"/>
                </a:solidFill>
                <a:latin typeface="Work Sans Light Roman"/>
              </a:rPr>
              <a:t> planes PIAR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de estudiantes con barreras para el aprendizaje.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400" y="4419600"/>
            <a:ext cx="26670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9300" y="4398168"/>
            <a:ext cx="712559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9A900"/>
                </a:solidFill>
                <a:latin typeface="Work Sans Light Roman"/>
              </a:rPr>
              <a:t>Persistencia en la nube</a:t>
            </a:r>
            <a:r>
              <a:rPr sz="1500" b="0" i="0">
                <a:solidFill>
                  <a:srgbClr val="000000"/>
                </a:solidFill>
                <a:latin typeface="Work Sans Light Roman"/>
              </a:rPr>
              <a:t> permite acceso y seguimiento continuo del progreso de aprendices.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305425"/>
            <a:ext cx="8534400" cy="7143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88790" y="5428654"/>
            <a:ext cx="1827311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9A900"/>
                </a:solidFill>
                <a:latin typeface="Work Sans Light Roman"/>
              </a:rPr>
              <a:t>Impacto en la Formación: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101" y="5428654"/>
            <a:ext cx="6176664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007832"/>
                </a:solidFill>
                <a:latin typeface="Work Sans Light Roman"/>
              </a:rPr>
              <a:t> Los instructores pueden adaptar metodologías, recursos y evaluaciones basándose 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8790" y="5659784"/>
            <a:ext cx="7679680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007832"/>
                </a:solidFill>
                <a:latin typeface="Work Sans Light Roman"/>
              </a:rPr>
              <a:t>perfiles de aprendizaje científicamente validados, mejorando significativamente los resultados académicos.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253" y="219075"/>
            <a:ext cx="7087492" cy="504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D4D4C"/>
                </a:solidFill>
                <a:latin typeface="WORK SANS BOLD ROMAN"/>
              </a:rPr>
              <a:t>Implementación y Configuración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509" y="1939528"/>
            <a:ext cx="2472928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9A900"/>
                </a:solidFill>
                <a:latin typeface="WORK SANS BOLD ROMAN"/>
              </a:rPr>
              <a:t>Instalación Local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628900"/>
            <a:ext cx="2476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309" y="2609998"/>
            <a:ext cx="4356447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Requisito: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No puede abrirse con doble clic, requiere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servidor local por ES Modules.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3457575"/>
            <a:ext cx="2857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4459" y="3445519"/>
            <a:ext cx="4675088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VS Code: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Instalar extensión "Live Server" y abrir con clic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derecho.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295775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5884" y="4281041"/>
            <a:ext cx="3333849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Python: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Ejecutar comando en terminal: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4829175"/>
            <a:ext cx="2924175" cy="361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709" y="4898826"/>
            <a:ext cx="277266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D4D4C"/>
                </a:solidFill>
                <a:latin typeface="Courier New"/>
              </a:rPr>
              <a:t>python -m http.server 8000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5362575"/>
            <a:ext cx="22860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309" y="5346501"/>
            <a:ext cx="4108499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0000"/>
                </a:solidFill>
                <a:latin typeface="Work Sans Light Roman"/>
              </a:rPr>
              <a:t>Acceder a </a:t>
            </a:r>
            <a:r>
              <a:rPr sz="1599" b="0" i="0">
                <a:solidFill>
                  <a:srgbClr val="39A900"/>
                </a:solidFill>
                <a:latin typeface="Work Sans Light Roman"/>
              </a:rPr>
              <a:t> http://localhost:8000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en el navegador.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1912292"/>
            <a:ext cx="3420963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9A900"/>
                </a:solidFill>
                <a:latin typeface="WORK SANS BOLD ROMAN"/>
              </a:rPr>
              <a:t>Configuración Backend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600325"/>
            <a:ext cx="1714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72250" y="2582763"/>
            <a:ext cx="4651870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Script: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Copiar </a:t>
            </a:r>
            <a:r>
              <a:rPr sz="1599" b="0" i="0">
                <a:solidFill>
                  <a:srgbClr val="39A900"/>
                </a:solidFill>
                <a:latin typeface="Work Sans Light Roman"/>
              </a:rPr>
              <a:t> server.gs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en nuevo proyecto Google Apps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Script.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3438525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550" y="3418284"/>
            <a:ext cx="4265959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Despliegue: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Como Web App con acceso "Cualquier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persona".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4267200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4253805"/>
            <a:ext cx="4745930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Configuración: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Editar </a:t>
            </a:r>
            <a:r>
              <a:rPr sz="1599" b="0" i="0">
                <a:solidFill>
                  <a:srgbClr val="39A900"/>
                </a:solidFill>
                <a:latin typeface="Work Sans Light Roman"/>
              </a:rPr>
              <a:t> js/services.js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y actualizar constante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GAS_URL.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5105400"/>
            <a:ext cx="20002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0825" y="5089326"/>
            <a:ext cx="4815879" cy="5320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0" i="0">
                <a:solidFill>
                  <a:srgbClr val="007832"/>
                </a:solidFill>
                <a:latin typeface="Work Sans Light Roman"/>
              </a:rPr>
              <a:t>Persistencia: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Los resultados se guardan automáticamente</a:t>
            </a:r>
            <a:r>
              <a:rPr sz="1599" b="0" i="0">
                <a:solidFill>
                  <a:srgbClr val="000000"/>
                </a:solidFill>
                <a:latin typeface="Work Sans Light Roman"/>
              </a:rPr>
              <a:t> en Google Sheets.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0867" y="142875"/>
            <a:ext cx="4030265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4D4D4C"/>
                </a:solidFill>
                <a:latin typeface="WORK SANS BOLD ROMAN"/>
              </a:rPr>
              <a:t>Contribución y Licencia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1924050"/>
            <a:ext cx="7924800" cy="1133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32310" y="2046386"/>
            <a:ext cx="3965525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39A900"/>
                </a:solidFill>
                <a:latin typeface="WORK SANS BOLD ROMAN"/>
              </a:rPr>
              <a:t>Código Abierto para la Comunidad SENA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525" y="2057400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525" y="2428875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4960" y="2387203"/>
            <a:ext cx="535746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i="0">
                <a:solidFill>
                  <a:srgbClr val="000000"/>
                </a:solidFill>
                <a:latin typeface="Work Sans Light Roman"/>
              </a:rPr>
              <a:t>Proyecto de </a:t>
            </a:r>
            <a:r>
              <a:rPr sz="1299" b="0" i="0">
                <a:solidFill>
                  <a:srgbClr val="39A900"/>
                </a:solidFill>
                <a:latin typeface="Work Sans Light Roman"/>
              </a:rPr>
              <a:t> código abierto</a:t>
            </a:r>
            <a:r>
              <a:rPr sz="1299" b="0" i="0">
                <a:solidFill>
                  <a:srgbClr val="000000"/>
                </a:solidFill>
                <a:latin typeface="Work Sans Light Roman"/>
              </a:rPr>
              <a:t> disponible para toda la comunidad educativa SENA.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2705100"/>
            <a:ext cx="1143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68760" y="2661195"/>
            <a:ext cx="5338861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i="0">
                <a:solidFill>
                  <a:srgbClr val="000000"/>
                </a:solidFill>
                <a:latin typeface="Work Sans Light Roman"/>
              </a:rPr>
              <a:t>Contribuciones mediante </a:t>
            </a:r>
            <a:r>
              <a:rPr sz="1299" b="0" i="0">
                <a:solidFill>
                  <a:srgbClr val="39A900"/>
                </a:solidFill>
                <a:latin typeface="Work Sans Light Roman"/>
              </a:rPr>
              <a:t> fork del repositorio</a:t>
            </a:r>
            <a:r>
              <a:rPr sz="1299" b="0" i="0">
                <a:solidFill>
                  <a:srgbClr val="000000"/>
                </a:solidFill>
                <a:latin typeface="Work Sans Light Roman"/>
              </a:rPr>
              <a:t> y pull requests con mejoras DUA.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00" y="3171825"/>
            <a:ext cx="7924800" cy="1581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08510" y="3295203"/>
            <a:ext cx="2020937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39A900"/>
                </a:solidFill>
                <a:latin typeface="WORK SANS BOLD ROMAN"/>
              </a:rPr>
              <a:t>Licencia GNU GPLv3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5525" y="3305175"/>
            <a:ext cx="2571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5525" y="3676650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06860" y="3636019"/>
            <a:ext cx="4744144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i="0">
                <a:solidFill>
                  <a:srgbClr val="39A900"/>
                </a:solidFill>
                <a:latin typeface="Work Sans Light Roman"/>
              </a:rPr>
              <a:t>Reconocimiento del Autor</a:t>
            </a:r>
            <a:r>
              <a:rPr sz="1299" b="0" i="0">
                <a:solidFill>
                  <a:srgbClr val="000000"/>
                </a:solidFill>
                <a:latin typeface="Work Sans Light Roman"/>
              </a:rPr>
              <a:t> - Mantener copyright original en versiones.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5525" y="3952875"/>
            <a:ext cx="1333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87810" y="3910012"/>
            <a:ext cx="4582665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i="0">
                <a:solidFill>
                  <a:srgbClr val="39A900"/>
                </a:solidFill>
                <a:latin typeface="Work Sans Light Roman"/>
              </a:rPr>
              <a:t>Mismo Licenciamiento</a:t>
            </a:r>
            <a:r>
              <a:rPr sz="1299" b="0" i="0">
                <a:solidFill>
                  <a:srgbClr val="000000"/>
                </a:solidFill>
                <a:latin typeface="Work Sans Light Roman"/>
              </a:rPr>
              <a:t> - Obras derivadas deben ser también GPLv3.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5525" y="4229100"/>
            <a:ext cx="1333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87810" y="4184005"/>
            <a:ext cx="4105671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i="0">
                <a:solidFill>
                  <a:srgbClr val="39A900"/>
                </a:solidFill>
                <a:latin typeface="Work Sans Light Roman"/>
              </a:rPr>
              <a:t>Código Abierto</a:t>
            </a:r>
            <a:r>
              <a:rPr sz="1299" b="0" i="0">
                <a:solidFill>
                  <a:srgbClr val="000000"/>
                </a:solidFill>
                <a:latin typeface="Work Sans Light Roman"/>
              </a:rPr>
              <a:t> - Código fuente disponible en distribuciones.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93590" y="4452342"/>
            <a:ext cx="419635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007832"/>
                </a:solidFill>
                <a:latin typeface="Work Sans Light Roman"/>
              </a:rPr>
              <a:t>Cualquier uso, modificación o distribución requiere cumplir estos términos.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3600" y="4943475"/>
            <a:ext cx="7924800" cy="581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46103" y="5025628"/>
            <a:ext cx="3182342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i="0">
                <a:solidFill>
                  <a:srgbClr val="FFFFFF"/>
                </a:solidFill>
                <a:latin typeface="Work Sans Light Roman"/>
              </a:rPr>
              <a:t>Copyright © 2026 </a:t>
            </a:r>
            <a:r>
              <a:rPr sz="1299" b="0" i="0" u="sng">
                <a:solidFill>
                  <a:srgbClr val="FFFFFF"/>
                </a:solidFill>
                <a:latin typeface="Work Sans Light Roman"/>
              </a:rPr>
              <a:t> Diego Alonso Ojeda Medina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5823" y="5223569"/>
            <a:ext cx="4342754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i="0" u="sng">
                <a:solidFill>
                  <a:srgbClr val="FFFFFF"/>
                </a:solidFill>
                <a:latin typeface="Work Sans Light Roman"/>
              </a:rPr>
              <a:t>dojedam@sena.edu.co</a:t>
            </a:r>
            <a:r>
              <a:rPr sz="1299" b="0" i="0">
                <a:solidFill>
                  <a:srgbClr val="FFFFFF"/>
                </a:solidFill>
                <a:latin typeface="Work Sans Light Roman"/>
              </a:rPr>
              <a:t> - SENA Regional Boyacá - Centro Minero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